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Public retail sales are stable at scale; the synthetic delivery portfolio has five programmes needing decisions</a:t>
            </a:r>
          </a:p>
          <a:p>
            <a:pPr>
              <a:defRPr sz="1300">
                <a:solidFill>
                  <a:srgbClr val="5B6673"/>
                </a:solidFill>
              </a:defRPr>
            </a:pPr>
            <a:r>
              <a:t>Reporting period: UCI Online Retail, 2010-12-01 to 2011-12-09 (transactions) | Portfolio cut-off: 2011-12-09 (synthetic)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- Gross positive transaction value reached GBP 10,666,685 across 19,960 eligible invoices; cancellations reduced this by GBP 896,812 (14.8% of invoices).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- United Kingdom customers contributed 84.6% of gross positive sales; the top 10 customers with a known ID account for 14.4% of that total.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- 5 of 11 synthetic programmes are Amber or Red, with a combined forecast cost overrun of GBP 439,000 against approved budget.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- 2 open risks exceed the project's high-risk threshold (score &gt;= 15) and require sponsor-level mitigation sign-off.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- Recommended actions: stabilise the two Red technology programmes, tighten the cancellation-rate review, and confirm owners for every open decision this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B6673"/>
                </a:solidFill>
              </a:defRPr>
            </a:pPr>
            <a:r>
              <a:t>Source: outputs/processed/kpi_summary.csv, project_portfolio.csv. Portfolio data is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Headline KPIs reconcile to the published QA checks with no unexplained variance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3840480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Definition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Gross positive sales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GBP 10,666,685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Eligible positive, non-cancellation lines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Net transaction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GBP 9,747,748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 signed transaction lines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Cancellation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GBP 896,812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Absolute value of cancellation lines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Eligible invoice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Distinct invoices in positive-sales view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Cancellation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Cancellation invoices / all invoices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 10 customer concentration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Missing CustomerID excluded (75.1% populated)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- All figures are formula- and pivot-driven in the workbook and reconcile to QA_Reconciliation; no manual overrides were applied.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B6673"/>
                </a:solidFill>
              </a:defRPr>
            </a:pPr>
            <a:r>
              <a:t>Source: outputs/processed/kpi_summary.csv; outputs/qa/qa_reconciliation.csv.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Monthly sales peaked in 2011-11 at GBP 1,509,496, with volatility concentrated late in the period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8638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1280160"/>
                <a:gridCol w="1463040"/>
                <a:gridCol w="1828800"/>
              </a:tblGrid>
              <a:tr h="313508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sales (GBP)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Invoices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MoM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order value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823,746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528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691,365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637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523,632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476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717,639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494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537,809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432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770,536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458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761,740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497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719,221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488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759,138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558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1,058,590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576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1,154,979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566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1,509,496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545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638,793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B6673"/>
                </a:solidFill>
              </a:defRPr>
            </a:pPr>
            <a:r>
              <a:t>Source: outputs/processed/monthly_sales.csv. Sharpest monthly decline: 2011-12 (-57.7%).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Sales are concentrated in the UK and in a small set of high-volume stock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United Kingdom: 84.6% of gross positive sales; the next four countries (Netherlands, EIRE, Germany, France) together contribute under 10%.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Top five products by gross sales value: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  DOTCOM POSTAGE (DOT): GBP 206,249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  REGENCY CAKESTAND 3 TIER (22423): GBP 174,485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  PAPER CRAFT , LITTLE BIRDIE (23843): GBP 168,470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  WHITE HANGING HEART T-LIGHT HOLDER (85123A): GBP 104,340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  PARTY BUNTING (47566): GBP 99,504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Top five known customers by gross sales value: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  Customer 14646.0: GBP 280,206 (2.6% of total)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  Customer 18102.0: GBP 259,657 (2.4% of total)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  Customer 17450.0: GBP 194,551 (1.8% of total)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  Customer 16446.0: GBP 168,472 (1.6% of total)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  Customer 14911.0: GBP 143,825 (1.3% of total)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B6673"/>
                </a:solidFill>
              </a:defRPr>
            </a:pPr>
            <a:r>
              <a:t>Source: outputs/processed/country_contribution.csv, top_products.csv, top_customers.csv.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Cancellations and missing customer IDs are material and are excluded transparently, not hidden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Cancellation value of GBP 896,812 (14.8% of invoices) is retained in clean data and reported separately from gross and net measures.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CustomerID is populated for 75.1% of rows; the remaining rows stay in sales totals but are excluded from customer-concentration analysis.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Description field is 99.7% complete; all other required fields are 100% complete (InvoiceNo, StockCode, Quantity, InvoiceDate, UnitPrice, Country).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- 10,147 exact duplicate candidate rows were identified and retained (not deleted) pending a documented business rule; flagged as a Warning, not a Fail, in QA_Reconciliation.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- This is historical UK retail data (Dec 2010 - Dec 2011) analysed for method demonstration only; it is not current transaction activity.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B6673"/>
                </a:solidFill>
              </a:defRPr>
            </a:pPr>
            <a:r>
              <a:t>Source: outputs/processed/data_completeness.csv; outputs/qa/qa_reconciliation.csv, exceptions.csv.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11 synthetic programmes: 6 Green, 3 Amber, 2 Red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686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822960"/>
                <a:gridCol w="100584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Schedule var. (days)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Budget var. (GBP)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Contact Centre Workflow Simplification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5700C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48,000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Customer Case Routing Upgrade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3261E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Sales Data Quality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7A34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-15,000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Month-End Reporting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5700C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Core Integration Stabilisation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3261E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Returns Process Redesign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7A34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Access Recertification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7A34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-8,000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Knowledge Base Renewal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5700C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Demand Forecasting 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7A34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Operational Resilience Playbooks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7A34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Supplier Invoice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7A34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- All project, owner, budget and date records are synthetic examples created for this demonstration; they do not represent a real organisation.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B6673"/>
                </a:solidFill>
              </a:defRPr>
            </a:pPr>
            <a:r>
              <a:t>Source: outputs/processed/project_portfolio.csv. Synthetic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2 risks exceed the high-risk threshold (score &gt;= 15); both sit on Red technology programmes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321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640080"/>
                <a:gridCol w="1554480"/>
                <a:gridCol w="1005840"/>
                <a:gridCol w="1005840"/>
                <a:gridCol w="9144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Escalation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PRJ-005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Supplier defect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Engineering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2021-11-30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PRJ-002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Integration test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2021-12-03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PRJ-003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Steward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 Product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2021-12-15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False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8912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- Open decisions requiring sponsor input this period: 4 (see Risks_Actions sheet in the workbook for the full list).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- Overdue milestones: 0; overdue actions: 0 as measured against the 2011-12-09 reporting cut-off.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- Dependencies most likely to cause further slippage: supplier platform recovery (PRJ-005) and interface defect resolution (PRJ-002).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B6673"/>
                </a:solidFill>
              </a:defRPr>
            </a:pPr>
            <a:r>
              <a:t>Source: outputs/processed/risks_actions.csv.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Five recommendations, prioritised by evidence and the cost of delay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822960"/>
                <a:gridCol w="822960"/>
                <a:gridCol w="1828800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Caveat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Convene a recovery review for PRJ-002 and PRJ-005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Both Red; combined forecast overrun GBP 390,000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Depends on supplier and defect-triage capacity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Set a documented duplicate-row disposition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10,147 duplicate candidates retained unresolved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Requires a business decision, not just a technical fix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Review cancellation drivers by product/country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Cancellation value GBP 896,812 (14.8%)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Cancellation-to-sale linkage is not reconstructed in this dataset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Confirm owner and date for every open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 open escalation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Owner roles are fictional placeholders in this simulation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Re-baseline PRJ-008 content approval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Legal review overdue; forecast slip of 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Impact is limited to one Amber programme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B6673"/>
                </a:solidFill>
              </a:defRPr>
            </a:pPr>
            <a:r>
              <a:t>Each recommendation is an estimate pending leadership decision, not a committed benefit.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Proposed delivery plan for the five priority actions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1463040"/>
                <a:gridCol w="219456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Success measure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Recovery review for PRJ-002 / PRJ-005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Technology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Agreed recovery plan with revised forecast dates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Duplicate-row disposition rule documented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 Governance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Rule published in METHODOLOGY_AND_LIMITATIONS and applied in next run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Cancellation driver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Analyst (this role)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Findings added to the next monthly review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Decision backlog 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Respective project sponsors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Zero open escalation items without an owner and date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PRJ-008 dependency re-baseline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Customer Operations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Revised forecast date agreed and recorded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B6673"/>
                </a:solidFill>
              </a:defRPr>
            </a:pPr>
            <a:r>
              <a:t>Dates are business days from the next reporting cycle; roles are fictional.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Decisions requested from leadership this cycle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1463040"/>
                <a:gridCol w="1463040"/>
              </a:tblGrid>
              <a:tr h="62179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Decision owner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Next checkpoint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Approve recovery capacity for PRJ-005 supplier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Technology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Next monthly review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Approve constrained UAT plan for PRJ-004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Finance Controls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Next monthly review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Approve duplicate-row disposition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 Governance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Next monthly review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Approve legal review escalation for PRJ-008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Customer Operations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Next monthly review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- This presentation demonstrates an independent reporting and governance method using the public UCI Online Retail dataset and a clearly labelled synthetic project portfolio.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- No figures represent real company performance, a real client engagement, or a deployed enterprise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B6673"/>
                </a:solidFill>
              </a:defRPr>
            </a:pPr>
            <a:r>
              <a:t>Next reporting checkpoint: following monthly cycle per docs/monthly_reporting_sop.md.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